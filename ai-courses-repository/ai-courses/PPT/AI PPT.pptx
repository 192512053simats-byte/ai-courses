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0" r:id="rId4"/>
  </p:sldMasterIdLst>
  <p:notesMasterIdLst>
    <p:notesMasterId r:id="rId21"/>
  </p:notesMasterIdLst>
  <p:handoutMasterIdLst>
    <p:handoutMasterId r:id="rId22"/>
  </p:handoutMasterIdLst>
  <p:sldIdLst>
    <p:sldId id="317" r:id="rId5"/>
    <p:sldId id="307" r:id="rId6"/>
    <p:sldId id="308" r:id="rId7"/>
    <p:sldId id="278" r:id="rId8"/>
    <p:sldId id="309" r:id="rId9"/>
    <p:sldId id="310" r:id="rId10"/>
    <p:sldId id="318" r:id="rId11"/>
    <p:sldId id="311" r:id="rId12"/>
    <p:sldId id="312" r:id="rId13"/>
    <p:sldId id="324" r:id="rId14"/>
    <p:sldId id="325" r:id="rId15"/>
    <p:sldId id="326" r:id="rId16"/>
    <p:sldId id="328" r:id="rId17"/>
    <p:sldId id="316" r:id="rId18"/>
    <p:sldId id="314" r:id="rId19"/>
    <p:sldId id="31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8/11/2026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30827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9577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8675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93567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85242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524193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01502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90939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2992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73EEAA1-4036-7DFE-D225-440929A33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A82F2E15-A292-999B-1334-ED18B0DAE9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46EEECA-CFF1-44D9-C2D3-86CB1CC27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833EC29-DB24-A649-FC9F-39D1624B7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743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19842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63709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26835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751201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217087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58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91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0745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268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F92874-EE02-E9DC-81A8-8C8969ECD991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66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673" r:id="rId17"/>
    <p:sldLayoutId id="2147483675" r:id="rId18"/>
    <p:sldLayoutId id="2147483661" r:id="rId19"/>
    <p:sldLayoutId id="2147483680" r:id="rId20"/>
    <p:sldLayoutId id="2147483681" r:id="rId21"/>
    <p:sldLayoutId id="2147483682" r:id="rId22"/>
    <p:sldLayoutId id="2147483666" r:id="rId23"/>
    <p:sldLayoutId id="2147483654" r:id="rId24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ourses.lumenlearning.com/suny-esc-communicationforprofessionals/chapter/statement-of-proble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mmnews.com/future-technology/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C3F371-E3A7-795A-CF3B-2340A9E4490B}"/>
              </a:ext>
            </a:extLst>
          </p:cNvPr>
          <p:cNvSpPr txBox="1"/>
          <p:nvPr/>
        </p:nvSpPr>
        <p:spPr>
          <a:xfrm>
            <a:off x="659804" y="1456209"/>
            <a:ext cx="11152334" cy="1229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 INSTITUTE  OF  MEDICAL  AND  TECHNICAL  SCIENCE</a:t>
            </a:r>
          </a:p>
          <a:p>
            <a:pPr algn="ctr">
              <a:lnSpc>
                <a:spcPct val="2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  - 602105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B54DCD-3014-9FE9-84DA-AB0A97551BE2}"/>
              </a:ext>
            </a:extLst>
          </p:cNvPr>
          <p:cNvSpPr txBox="1"/>
          <p:nvPr/>
        </p:nvSpPr>
        <p:spPr>
          <a:xfrm>
            <a:off x="8823278" y="4872782"/>
            <a:ext cx="2988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SARVAJITH S,</a:t>
            </a:r>
          </a:p>
        </p:txBody>
      </p:sp>
      <p:pic>
        <p:nvPicPr>
          <p:cNvPr id="2" name="Picture 1" descr="A blue and white logo&#10;&#10;AI-generated content may be incorrect.">
            <a:extLst>
              <a:ext uri="{FF2B5EF4-FFF2-40B4-BE49-F238E27FC236}">
                <a16:creationId xmlns:a16="http://schemas.microsoft.com/office/drawing/2014/main" id="{6FAA675C-2BF3-1B75-025F-C6CED1738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68" y="522698"/>
            <a:ext cx="11409528" cy="10331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73A62E-EB2A-C82A-AB3D-8FCE9895A715}"/>
              </a:ext>
            </a:extLst>
          </p:cNvPr>
          <p:cNvSpPr txBox="1"/>
          <p:nvPr/>
        </p:nvSpPr>
        <p:spPr>
          <a:xfrm>
            <a:off x="1100362" y="5009516"/>
            <a:ext cx="3637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</a:t>
            </a:r>
            <a:r>
              <a:rPr lang="en-IN" b="0" i="0" dirty="0">
                <a:solidFill>
                  <a:srgbClr val="1F1F1F"/>
                </a:solidFill>
                <a:effectLst/>
                <a:latin typeface="Google Sans"/>
              </a:rPr>
              <a:t>VEERAMANI R</a:t>
            </a:r>
            <a:endParaRPr lang="en-IN" b="0" i="0" dirty="0">
              <a:solidFill>
                <a:srgbClr val="444746"/>
              </a:solidFill>
              <a:effectLst/>
              <a:latin typeface="Google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C28F23-3B2A-2509-3794-A30A9DA4AEC9}"/>
              </a:ext>
            </a:extLst>
          </p:cNvPr>
          <p:cNvSpPr txBox="1"/>
          <p:nvPr/>
        </p:nvSpPr>
        <p:spPr>
          <a:xfrm>
            <a:off x="1875453" y="3018447"/>
            <a:ext cx="83042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Genetic Disorder Risk Prediction and Classification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5BC9D8-A2FD-C8DA-9D35-FF78743A2399}"/>
              </a:ext>
            </a:extLst>
          </p:cNvPr>
          <p:cNvSpPr txBox="1"/>
          <p:nvPr/>
        </p:nvSpPr>
        <p:spPr>
          <a:xfrm>
            <a:off x="442918" y="208698"/>
            <a:ext cx="21888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18D158-F532-579E-3331-95F12E679F34}"/>
              </a:ext>
            </a:extLst>
          </p:cNvPr>
          <p:cNvSpPr txBox="1"/>
          <p:nvPr/>
        </p:nvSpPr>
        <p:spPr>
          <a:xfrm>
            <a:off x="592812" y="1604550"/>
            <a:ext cx="3826788" cy="4849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18F5B7A9-6AC6-422F-AFF6-CDB50EA5F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85" y="32532"/>
            <a:ext cx="11409528" cy="10331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5A63C0-5CD0-48F2-B2C8-038B1A823706}"/>
              </a:ext>
            </a:extLst>
          </p:cNvPr>
          <p:cNvSpPr txBox="1"/>
          <p:nvPr/>
        </p:nvSpPr>
        <p:spPr>
          <a:xfrm>
            <a:off x="758859" y="1142226"/>
            <a:ext cx="1731858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C2F426-3DC4-6ECD-8C22-5B672EA5E33E}"/>
              </a:ext>
            </a:extLst>
          </p:cNvPr>
          <p:cNvSpPr txBox="1"/>
          <p:nvPr/>
        </p:nvSpPr>
        <p:spPr>
          <a:xfrm>
            <a:off x="573105" y="1383581"/>
            <a:ext cx="1879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3587CDDE-30B0-4E68-894B-D427C98E1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18" y="228055"/>
            <a:ext cx="11409528" cy="1033147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F2C2431C-0027-6B23-5262-37A3AD891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504" y="1557490"/>
            <a:ext cx="10521387" cy="4299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GeneGuard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AI-based system for predicting the risk of genetic disorders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analyzes selected genetic and patient-related features.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is used to classify the user into different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levels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Explainable AI helps users understand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 a particular risk prediction was made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counseling-oriented recommendations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the predicted risk.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Genetic and personal information is handled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privacy and security considerations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GeneGuard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decision-support system and not a medical diagnosis tool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76FE057-94B4-6711-5237-07F32E083B47}"/>
              </a:ext>
            </a:extLst>
          </p:cNvPr>
          <p:cNvSpPr txBox="1"/>
          <p:nvPr/>
        </p:nvSpPr>
        <p:spPr>
          <a:xfrm>
            <a:off x="239021" y="1304710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1701066C-B22E-4940-B556-D1D64774E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56" y="121243"/>
            <a:ext cx="11409528" cy="1033147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075139CB-3C28-FF65-0790-60B5EA98179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25033" y="1807315"/>
            <a:ext cx="9213448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Genetic disorders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diseases caused by changes or abnormalities in genes or chromosomes.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risk prediction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help identify individuals who may require further medical evaluation.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analyze healthcare and genetic data to identify patterns related to disease risk.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(XAI)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users understand the important factors behind an AI-generated prediction.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GeneGuard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combines AI-based risk prediction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results and counseling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focuses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privacy and 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because genetic and personal data are highly sensitive. </a:t>
            </a:r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9850"/>
            <a:ext cx="7749021" cy="581130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25181B78-2591-4F5A-ADC7-7FF919144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71" y="148538"/>
            <a:ext cx="11409528" cy="103314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BE13CC7-1BBE-677E-A715-75FEEC7BA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4920" y="1769307"/>
            <a:ext cx="7635240" cy="3968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genetic disorder risk prediction 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classify users into suitable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categories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understandable explanations for AI predictions.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counseling-oriented recommendations.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protect sensitive genetic and personal information.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healthcare professionals in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E5F912-3181-0875-D946-FD15EA8BAAC8}"/>
              </a:ext>
            </a:extLst>
          </p:cNvPr>
          <p:cNvSpPr txBox="1"/>
          <p:nvPr/>
        </p:nvSpPr>
        <p:spPr>
          <a:xfrm>
            <a:off x="274980" y="1319088"/>
            <a:ext cx="5712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696545F4-4C2B-43D4-BD69-2BF8FBD2E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80" y="189481"/>
            <a:ext cx="11409528" cy="103314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FE358F-21D1-7032-034B-2EB8DACF9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604922"/>
              </p:ext>
            </p:extLst>
          </p:nvPr>
        </p:nvGraphicFramePr>
        <p:xfrm>
          <a:off x="599440" y="1877213"/>
          <a:ext cx="10678159" cy="4663440"/>
        </p:xfrm>
        <a:graphic>
          <a:graphicData uri="http://schemas.openxmlformats.org/drawingml/2006/table">
            <a:tbl>
              <a:tblPr firstRow="1" bandRow="1">
                <a:tableStyleId>{08FB837D-C827-4EFA-A057-4D05807E0F7C}</a:tableStyleId>
              </a:tblPr>
              <a:tblGrid>
                <a:gridCol w="1994775">
                  <a:extLst>
                    <a:ext uri="{9D8B030D-6E8A-4147-A177-3AD203B41FA5}">
                      <a16:colId xmlns:a16="http://schemas.microsoft.com/office/drawing/2014/main" val="2089125987"/>
                    </a:ext>
                  </a:extLst>
                </a:gridCol>
                <a:gridCol w="2340570">
                  <a:extLst>
                    <a:ext uri="{9D8B030D-6E8A-4147-A177-3AD203B41FA5}">
                      <a16:colId xmlns:a16="http://schemas.microsoft.com/office/drawing/2014/main" val="3560947368"/>
                    </a:ext>
                  </a:extLst>
                </a:gridCol>
                <a:gridCol w="947596">
                  <a:extLst>
                    <a:ext uri="{9D8B030D-6E8A-4147-A177-3AD203B41FA5}">
                      <a16:colId xmlns:a16="http://schemas.microsoft.com/office/drawing/2014/main" val="4210494261"/>
                    </a:ext>
                  </a:extLst>
                </a:gridCol>
                <a:gridCol w="3224372">
                  <a:extLst>
                    <a:ext uri="{9D8B030D-6E8A-4147-A177-3AD203B41FA5}">
                      <a16:colId xmlns:a16="http://schemas.microsoft.com/office/drawing/2014/main" val="4255528770"/>
                    </a:ext>
                  </a:extLst>
                </a:gridCol>
                <a:gridCol w="2170846">
                  <a:extLst>
                    <a:ext uri="{9D8B030D-6E8A-4147-A177-3AD203B41FA5}">
                      <a16:colId xmlns:a16="http://schemas.microsoft.com/office/drawing/2014/main" val="1458582173"/>
                    </a:ext>
                  </a:extLst>
                </a:gridCol>
              </a:tblGrid>
              <a:tr h="305142">
                <a:tc>
                  <a:txBody>
                    <a:bodyPr/>
                    <a:lstStyle/>
                    <a:p>
                      <a:r>
                        <a:rPr lang="en-IN" b="1" dirty="0"/>
                        <a:t>Author(s)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Title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 b="1"/>
                        <a:t>Year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Methodology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Key Findings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106259"/>
                  </a:ext>
                </a:extLst>
              </a:tr>
              <a:tr h="762854">
                <a:tc>
                  <a:txBody>
                    <a:bodyPr/>
                    <a:lstStyle/>
                    <a:p>
                      <a:r>
                        <a:rPr lang="en-IN" b="1"/>
                        <a:t>V. Chen et al.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Interpretable Machine Learning in Computational Biology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Explainable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Improves interpretability of biological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0360150"/>
                  </a:ext>
                </a:extLst>
              </a:tr>
              <a:tr h="533998">
                <a:tc>
                  <a:txBody>
                    <a:bodyPr/>
                    <a:lstStyle/>
                    <a:p>
                      <a:r>
                        <a:rPr lang="da-DK" b="1"/>
                        <a:t>A. S. Alharthi et al.</a:t>
                      </a:r>
                      <a:endParaRPr lang="da-DK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Explainable AI in Human Health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XAI &amp; Healthcare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Improves transparency in health prediction.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3890510"/>
                  </a:ext>
                </a:extLst>
              </a:tr>
              <a:tr h="533998">
                <a:tc>
                  <a:txBody>
                    <a:bodyPr/>
                    <a:lstStyle/>
                    <a:p>
                      <a:r>
                        <a:rPr lang="en-IN" b="1"/>
                        <a:t>Q. Sun et al.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Explainable AI for Medical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XAI &amp; Medical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Supports trustworthy medical predictions.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351739"/>
                  </a:ext>
                </a:extLst>
              </a:tr>
              <a:tr h="762854">
                <a:tc>
                  <a:txBody>
                    <a:bodyPr/>
                    <a:lstStyle/>
                    <a:p>
                      <a:r>
                        <a:rPr lang="en-IN" b="1"/>
                        <a:t>R. Alkhanbouli et al.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Explainable AI in Disease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XAI &amp; 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SHAP and LIME improve prediction interpretation.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6782438"/>
                  </a:ext>
                </a:extLst>
              </a:tr>
              <a:tr h="762854">
                <a:tc>
                  <a:txBody>
                    <a:bodyPr/>
                    <a:lstStyle/>
                    <a:p>
                      <a:r>
                        <a:rPr lang="en-IN" b="1"/>
                        <a:t>C. Wang et al.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Deep Learning and Explainable AI for Genetic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IN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Deep Learning &amp; XAI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Provides interpretable insights from genetic data.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2243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20754-11AA-C0E4-38B3-07A7F310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EA0C1B-9508-1942-93BA-F1EAACC227B6}"/>
              </a:ext>
            </a:extLst>
          </p:cNvPr>
          <p:cNvSpPr txBox="1"/>
          <p:nvPr/>
        </p:nvSpPr>
        <p:spPr>
          <a:xfrm>
            <a:off x="727000" y="1301159"/>
            <a:ext cx="38307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: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AB7E1F75-6B95-4DF7-8030-607A67939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71" y="148538"/>
            <a:ext cx="11409528" cy="1033147"/>
          </a:xfrm>
          <a:prstGeom prst="rect">
            <a:avLst/>
          </a:prstGeom>
        </p:spPr>
      </p:pic>
      <p:pic>
        <p:nvPicPr>
          <p:cNvPr id="9" name="Picture 8" descr="A hand writing on a screen&#10;&#10;Description automatically generated">
            <a:extLst>
              <a:ext uri="{FF2B5EF4-FFF2-40B4-BE49-F238E27FC236}">
                <a16:creationId xmlns:a16="http://schemas.microsoft.com/office/drawing/2014/main" id="{6744E8BB-35E5-289C-ED3A-1FD79EE134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84160" y="2123448"/>
            <a:ext cx="3836012" cy="323087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69B48D-90DB-D707-8A8F-B5FE016B6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130" y="1686850"/>
            <a:ext cx="7925422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Genetic disorder risk assessment can involve complex information.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may not understand how risk predictions are generated.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Black-box AI models can reduce trust.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Sensitive genetic information requires strong privacy protection.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may not provide personalized counseling support.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Therefore, an explainable and secure AI-based risk prediction system is needed. </a:t>
            </a:r>
          </a:p>
        </p:txBody>
      </p:sp>
    </p:spTree>
    <p:extLst>
      <p:ext uri="{BB962C8B-B14F-4D97-AF65-F5344CB8AC3E}">
        <p14:creationId xmlns:p14="http://schemas.microsoft.com/office/powerpoint/2010/main" val="1278977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1A7DAE-C7CB-6AC9-B652-FC5FC3E673B4}"/>
              </a:ext>
            </a:extLst>
          </p:cNvPr>
          <p:cNvSpPr txBox="1"/>
          <p:nvPr/>
        </p:nvSpPr>
        <p:spPr>
          <a:xfrm>
            <a:off x="3809070" y="1318990"/>
            <a:ext cx="41399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</p:txBody>
      </p:sp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3D7DE329-0311-4DFA-82FB-588DB331C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71" y="148538"/>
            <a:ext cx="11409528" cy="10331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2958AF-4A0E-33FA-9F25-6E4A480001D9}"/>
              </a:ext>
            </a:extLst>
          </p:cNvPr>
          <p:cNvSpPr txBox="1"/>
          <p:nvPr/>
        </p:nvSpPr>
        <p:spPr>
          <a:xfrm>
            <a:off x="1940767" y="2080436"/>
            <a:ext cx="715891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Prediction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Counseling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↓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Report</a:t>
            </a:r>
          </a:p>
        </p:txBody>
      </p:sp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94BB708F-F0F7-4ED3-A502-A2864C04C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70" y="112091"/>
            <a:ext cx="11409528" cy="103314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DA50AB-D0F0-4BCC-AF90-B83FE1BBA001}"/>
              </a:ext>
            </a:extLst>
          </p:cNvPr>
          <p:cNvSpPr txBox="1"/>
          <p:nvPr/>
        </p:nvSpPr>
        <p:spPr>
          <a:xfrm>
            <a:off x="950501" y="6276642"/>
            <a:ext cx="10290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 : Secure Genetic Data Collection, Preprocessing and Feature Engineering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5743B4-88C3-02D7-9753-8B475CE9705C}"/>
              </a:ext>
            </a:extLst>
          </p:cNvPr>
          <p:cNvSpPr txBox="1"/>
          <p:nvPr/>
        </p:nvSpPr>
        <p:spPr>
          <a:xfrm>
            <a:off x="634481" y="1269897"/>
            <a:ext cx="386287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endParaRPr lang="en-IN" dirty="0"/>
          </a:p>
        </p:txBody>
      </p:sp>
      <p:pic>
        <p:nvPicPr>
          <p:cNvPr id="9" name="Picture 8" descr="A diagram of data processing&#10;&#10;Description automatically generated">
            <a:extLst>
              <a:ext uri="{FF2B5EF4-FFF2-40B4-BE49-F238E27FC236}">
                <a16:creationId xmlns:a16="http://schemas.microsoft.com/office/drawing/2014/main" id="{824309FA-F89D-669E-4790-718B5B6C8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9468" y="1851218"/>
            <a:ext cx="7809722" cy="398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94BB708F-F0F7-4ED3-A502-A2864C04C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71" y="148538"/>
            <a:ext cx="11409528" cy="10331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7DD686-1DB5-BB00-C409-4B0DD3E76F69}"/>
              </a:ext>
            </a:extLst>
          </p:cNvPr>
          <p:cNvSpPr txBox="1"/>
          <p:nvPr/>
        </p:nvSpPr>
        <p:spPr>
          <a:xfrm>
            <a:off x="629265" y="1710813"/>
            <a:ext cx="7452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sz="2400" dirty="0"/>
              <a:t>Secure Patient Data Module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364963-48FE-05B7-D83B-E3E008E3D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078" y="2280922"/>
            <a:ext cx="5150499" cy="333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registration/login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data input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Patient information management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protection </a:t>
            </a:r>
          </a:p>
        </p:txBody>
      </p:sp>
      <p:pic>
        <p:nvPicPr>
          <p:cNvPr id="5124" name="Picture 4" descr="Privacy-Preserving Machine Learning Techniques: Cryptographic Approaches, Challenges, and Future Directions">
            <a:extLst>
              <a:ext uri="{FF2B5EF4-FFF2-40B4-BE49-F238E27FC236}">
                <a16:creationId xmlns:a16="http://schemas.microsoft.com/office/drawing/2014/main" id="{A6724F3B-FB14-9B67-028A-216D25366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57901"/>
            <a:ext cx="5566599" cy="3154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9165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94BB708F-F0F7-4ED3-A502-A2864C04C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71" y="148538"/>
            <a:ext cx="11409528" cy="10331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152836-A7DE-CFDC-AB47-ADF0170BF948}"/>
              </a:ext>
            </a:extLst>
          </p:cNvPr>
          <p:cNvSpPr txBox="1"/>
          <p:nvPr/>
        </p:nvSpPr>
        <p:spPr>
          <a:xfrm>
            <a:off x="668594" y="1566383"/>
            <a:ext cx="75905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Genetic Risk Prediction Module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CF2347-581C-D6E8-517F-0DB468DA9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594" y="2189888"/>
            <a:ext cx="5427406" cy="333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ML model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classification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Prediction generation </a:t>
            </a:r>
          </a:p>
        </p:txBody>
      </p:sp>
      <p:pic>
        <p:nvPicPr>
          <p:cNvPr id="6147" name="Picture 3" descr="Explainable soft-voting classifier for heart disease prediction using SHAP and LIME | Discover Computing | Springer Nature Link">
            <a:extLst>
              <a:ext uri="{FF2B5EF4-FFF2-40B4-BE49-F238E27FC236}">
                <a16:creationId xmlns:a16="http://schemas.microsoft.com/office/drawing/2014/main" id="{ABAAF268-4BB2-0752-53AB-43723342F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641" y="2550809"/>
            <a:ext cx="6265765" cy="2971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2477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logo&#10;&#10;AI-generated content may be incorrect.">
            <a:extLst>
              <a:ext uri="{FF2B5EF4-FFF2-40B4-BE49-F238E27FC236}">
                <a16:creationId xmlns:a16="http://schemas.microsoft.com/office/drawing/2014/main" id="{94BB708F-F0F7-4ED3-A502-A2864C04C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71" y="148538"/>
            <a:ext cx="11409528" cy="10331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31AD5F-B739-30A5-A125-25BC4E5C8DEB}"/>
              </a:ext>
            </a:extLst>
          </p:cNvPr>
          <p:cNvSpPr txBox="1"/>
          <p:nvPr/>
        </p:nvSpPr>
        <p:spPr>
          <a:xfrm>
            <a:off x="697087" y="1629887"/>
            <a:ext cx="76494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Explainable AI Module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6E557E-8934-091C-7554-6C1E4E3AB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096" y="2198431"/>
            <a:ext cx="4674636" cy="333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model prediction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features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explanations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SHAP/LIME-based interpretation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understandable results </a:t>
            </a:r>
          </a:p>
        </p:txBody>
      </p:sp>
      <p:pic>
        <p:nvPicPr>
          <p:cNvPr id="7171" name="Picture 3" descr="Explainable AI(XAI) Design Concept. A medical use case example [10]. | Download Scientific Diagram">
            <a:extLst>
              <a:ext uri="{FF2B5EF4-FFF2-40B4-BE49-F238E27FC236}">
                <a16:creationId xmlns:a16="http://schemas.microsoft.com/office/drawing/2014/main" id="{D7B9C9C8-43D8-6A85-1B49-2E4A3A05B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732" y="2462968"/>
            <a:ext cx="6326155" cy="306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493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6C7FA-50F5-A4B4-1AC2-AA9069951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399"/>
            <a:ext cx="5651500" cy="214604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A2E0D-668B-8089-F099-2453460696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6" name="Picture 15" descr="A map of the world with icons&#10;&#10;Description automatically generated">
            <a:extLst>
              <a:ext uri="{FF2B5EF4-FFF2-40B4-BE49-F238E27FC236}">
                <a16:creationId xmlns:a16="http://schemas.microsoft.com/office/drawing/2014/main" id="{BEB17ACB-B5D9-5EE1-B5DA-B1F2B473C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41488" y="2428981"/>
            <a:ext cx="3543020" cy="2842815"/>
          </a:xfrm>
          <a:prstGeom prst="rect">
            <a:avLst/>
          </a:prstGeom>
        </p:spPr>
      </p:pic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10551D-34D6-306C-1E6C-842772EFE130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130750168"/>
              </p:ext>
            </p:extLst>
          </p:nvPr>
        </p:nvGraphicFramePr>
        <p:xfrm>
          <a:off x="914400" y="2038349"/>
          <a:ext cx="5651500" cy="3925776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825750">
                  <a:extLst>
                    <a:ext uri="{9D8B030D-6E8A-4147-A177-3AD203B41FA5}">
                      <a16:colId xmlns:a16="http://schemas.microsoft.com/office/drawing/2014/main" val="4269696039"/>
                    </a:ext>
                  </a:extLst>
                </a:gridCol>
                <a:gridCol w="2825750">
                  <a:extLst>
                    <a:ext uri="{9D8B030D-6E8A-4147-A177-3AD203B41FA5}">
                      <a16:colId xmlns:a16="http://schemas.microsoft.com/office/drawing/2014/main" val="2790840478"/>
                    </a:ext>
                  </a:extLst>
                </a:gridCol>
              </a:tblGrid>
              <a:tr h="440936">
                <a:tc>
                  <a:txBody>
                    <a:bodyPr/>
                    <a:lstStyle/>
                    <a:p>
                      <a:r>
                        <a:rPr lang="en-IN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9753061"/>
                  </a:ext>
                </a:extLst>
              </a:tr>
              <a:tr h="440936">
                <a:tc>
                  <a:txBody>
                    <a:bodyPr/>
                    <a:lstStyle/>
                    <a:p>
                      <a:r>
                        <a:rPr lang="en-IN"/>
                        <a:t>Programming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Python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924930"/>
                  </a:ext>
                </a:extLst>
              </a:tr>
              <a:tr h="440936">
                <a:tc>
                  <a:txBody>
                    <a:bodyPr/>
                    <a:lstStyle/>
                    <a:p>
                      <a:r>
                        <a:rPr lang="en-IN"/>
                        <a:t>Frontend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HTML, CSS, JavaScript / React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4068569"/>
                  </a:ext>
                </a:extLst>
              </a:tr>
              <a:tr h="440936">
                <a:tc>
                  <a:txBody>
                    <a:bodyPr/>
                    <a:lstStyle/>
                    <a:p>
                      <a:r>
                        <a:rPr lang="en-IN"/>
                        <a:t>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Flask / FastAPI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073658"/>
                  </a:ext>
                </a:extLst>
              </a:tr>
              <a:tr h="440936">
                <a:tc>
                  <a:txBody>
                    <a:bodyPr/>
                    <a:lstStyle/>
                    <a:p>
                      <a:r>
                        <a:rPr lang="en-IN"/>
                        <a:t>Machine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Scikit-learn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831208"/>
                  </a:ext>
                </a:extLst>
              </a:tr>
              <a:tr h="440936">
                <a:tc>
                  <a:txBody>
                    <a:bodyPr/>
                    <a:lstStyle/>
                    <a:p>
                      <a:r>
                        <a:rPr lang="en-IN"/>
                        <a:t>Explainable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SHAP / LIME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529487"/>
                  </a:ext>
                </a:extLst>
              </a:tr>
              <a:tr h="440936">
                <a:tc>
                  <a:txBody>
                    <a:bodyPr/>
                    <a:lstStyle/>
                    <a:p>
                      <a:r>
                        <a:rPr lang="en-IN"/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MySQL / SQLite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3251902"/>
                  </a:ext>
                </a:extLst>
              </a:tr>
              <a:tr h="440936">
                <a:tc>
                  <a:txBody>
                    <a:bodyPr/>
                    <a:lstStyle/>
                    <a:p>
                      <a:r>
                        <a:rPr lang="en-IN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Authentication + Encryption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8732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491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748C9E-901A-5308-D836-54737DF879BB}"/>
              </a:ext>
            </a:extLst>
          </p:cNvPr>
          <p:cNvSpPr txBox="1"/>
          <p:nvPr/>
        </p:nvSpPr>
        <p:spPr>
          <a:xfrm>
            <a:off x="507417" y="1387918"/>
            <a:ext cx="23061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8CFA1A1F-D51F-41DA-BAF6-5960A4844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71" y="148538"/>
            <a:ext cx="11409528" cy="103314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C479647-070A-E940-BEA5-BFC674A6E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34" y="2055816"/>
            <a:ext cx="8304244" cy="3608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GeneGuard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AI-assisted genetic disorder risk prediction.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converts complex data into understandable risk information.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improves transparency and user trust.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Counseling support helps users understand the next appropriate steps.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mechanisms help protect sensitive information.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professionals rather than replacing medical diagnosis. </a:t>
            </a:r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931179-4CD8-3DF9-0C64-96DFDAC09D6D}"/>
              </a:ext>
            </a:extLst>
          </p:cNvPr>
          <p:cNvSpPr txBox="1"/>
          <p:nvPr/>
        </p:nvSpPr>
        <p:spPr>
          <a:xfrm>
            <a:off x="545222" y="423021"/>
            <a:ext cx="2278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673823-E08D-022C-BBD9-AE00E5D1D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1560" y="1497007"/>
            <a:ext cx="7632440" cy="388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 – Genetic Diseases and Genomics resources.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 – Machine Learning.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SHAP Documentation – Explainable AI.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LIME – Local Interpretable Model-Agnostic Explanations.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Explainable AI in healthcare.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papers on machine learning for genetic disorder prediction. </a:t>
            </a:r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2ADB39-1B1E-D57E-779E-60C703AC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846262-C279-F493-8DBC-B532BD5AC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3392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DF9CEC-52C2-4D14-B2F5-11176002A8B6}">
  <ds:schemaRefs>
    <ds:schemaRef ds:uri="http://purl.org/dc/dcmitype/"/>
    <ds:schemaRef ds:uri="http://purl.org/dc/elements/1.1/"/>
    <ds:schemaRef ds:uri="http://schemas.microsoft.com/sharepoint/v3"/>
    <ds:schemaRef ds:uri="http://schemas.microsoft.com/office/2006/documentManagement/types"/>
    <ds:schemaRef ds:uri="http://www.w3.org/XML/1998/namespace"/>
    <ds:schemaRef ds:uri="16c05727-aa75-4e4a-9b5f-8a80a1165891"/>
    <ds:schemaRef ds:uri="71af3243-3dd4-4a8d-8c0d-dd76da1f02a5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852</TotalTime>
  <Words>713</Words>
  <Application>Microsoft Office PowerPoint</Application>
  <PresentationFormat>Widescreen</PresentationFormat>
  <Paragraphs>176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Calibri</vt:lpstr>
      <vt:lpstr>Courier New</vt:lpstr>
      <vt:lpstr>Google Sans</vt:lpstr>
      <vt:lpstr>Sagona Book</vt:lpstr>
      <vt:lpstr>Times New Roman</vt:lpstr>
      <vt:lpstr>Tw Cen MT</vt:lpstr>
      <vt:lpstr>Tw Cen MT Condensed</vt:lpstr>
      <vt:lpstr>Wingdings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Enhancement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DEEPIKA DEEPIKA</dc:creator>
  <cp:lastModifiedBy>Sarvajith S</cp:lastModifiedBy>
  <cp:revision>31</cp:revision>
  <dcterms:created xsi:type="dcterms:W3CDTF">2025-02-21T17:05:31Z</dcterms:created>
  <dcterms:modified xsi:type="dcterms:W3CDTF">2026-08-11T16:07:04Z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